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Malgun Gothic"/>
              </a:rP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2468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Jmarket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83080"/>
            <a:ext cx="2331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CBD5E1"/>
                </a:solidFill>
                <a:latin typeface="Malgun Gothic"/>
              </a:rPr>
              <a:t>중고거래 및 경매 기반 마켓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0058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Malgun Gothic"/>
              </a:rPr>
              <a:t>사용자 거래 흐름과 관리자 운영 흐름을 연결한 개인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828800"/>
            <a:ext cx="7132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Malgun Gothic"/>
              </a:rPr>
              <a:t>Spring Boot · React · WebSocket · MySQL · 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743200"/>
            <a:ext cx="20574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1" y="2862072"/>
            <a:ext cx="1728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1" y="312724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Full-stack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43200"/>
            <a:ext cx="20574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2862072"/>
            <a:ext cx="1728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312724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Malgun Gothic"/>
              </a:rPr>
              <a:t>정합성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743200"/>
            <a:ext cx="20574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2862072"/>
            <a:ext cx="1728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312724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Malgun Gothic"/>
              </a:rPr>
              <a:t>거래/경매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779008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이름 / 연락처 / 이메일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01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인적사항과 간단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49377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79476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이메일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89320" y="1783080"/>
            <a:ext cx="5440680" cy="2423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83080"/>
            <a:ext cx="5440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856231"/>
            <a:ext cx="5111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한 줄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295144"/>
            <a:ext cx="5038344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Spring Boot와 React 기반으로 거래, 경매, 채팅, 마일리지, 관리자 운영 기능을 구현했습니다. 기능 구현뿐 아니라 권한, 상태 전이, 데이터 정합성을 함께 고려했습니다.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4617720"/>
          <a:ext cx="49377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54480"/>
                <a:gridCol w="22402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4617720"/>
          <a:ext cx="54406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286000"/>
                <a:gridCol w="192024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취득일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자격증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01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Education /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기술 스택은 사용 이유가 드러나도록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50749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46304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3429000"/>
          <a:ext cx="50749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94560"/>
                <a:gridCol w="173736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취득일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자격증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algun Gothic"/>
                        </a:rPr>
                        <a:t>기관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80760" y="1783080"/>
          <a:ext cx="53492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023360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Java 21, Spring Boot, Spring Security, JPA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React, Vite, JavaScript, CSS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DB / Cache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MySQL, Redis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Realtime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WebSocket, STOMP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Test / Tool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0F172A"/>
                          </a:solidFill>
                          <a:latin typeface="Malgun Gothic"/>
                        </a:rPr>
                        <a:t>JUnit, MockMvc, Gradle, npm, Git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85800" y="4983480"/>
            <a:ext cx="107442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056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개인 학습 /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495544"/>
            <a:ext cx="1034186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인증/인가, 경매 정산, React Hook 의존성, 관리자 운영 화면 중심으로 학습 및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02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Project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포트폴리오에 포함할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107441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463040"/>
                <a:gridCol w="731520"/>
                <a:gridCol w="3246120"/>
                <a:gridCol w="3977639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프로젝트명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인원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Jmarket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2026.04 ~ 2026.05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개인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Spring Boot, React, MySQL, Redis, WebSocket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F172A"/>
                          </a:solidFill>
                          <a:latin typeface="Malgun Gothic"/>
                        </a:rPr>
                        <a:t>중고거래와 경매를 함께 제공하는 마켓 플랫폼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3429000"/>
            <a:ext cx="10744200" cy="205740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3108"/>
            <a:ext cx="10287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프로젝트 대표 화면 또는 서비스 흐름 이미지 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8046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Jmarket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1460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>
                <a:solidFill>
                  <a:srgbClr val="CBD5E1"/>
                </a:solidFill>
                <a:latin typeface="Malgun Gothic"/>
              </a:rPr>
              <a:t>문제 해결 중심으로 프로젝트의 구조와 핵심 로직을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37560"/>
            <a:ext cx="12344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OO 문제를 해결하기 위해 OO 시스템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7442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03704"/>
            <a:ext cx="1034186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중고거래 과정에서 발생하는 상품 탐색, 거래 요청, 경매 입찰, 채팅, 마일리지 정산, 관리자 운영 문제를 해결하기 위해 통합 마켓 플랫폼을 개발했습니다.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71800"/>
            <a:ext cx="32918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71800"/>
            <a:ext cx="32918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44952"/>
            <a:ext cx="2962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해결하려는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83864"/>
            <a:ext cx="2889504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거래 요청부터 완료까지 상태 관리
경매 입찰과 마일리지 예약 정합성
신고/출금/회원 제재 운영 분리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71800"/>
            <a:ext cx="32918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971800"/>
            <a:ext cx="329184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044952"/>
            <a:ext cx="2962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3483864"/>
            <a:ext cx="2889504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사용자는 한 흐름에서 거래 처리
관리자는 운영 데이터를 빠르게 확인
권한/상태별 액션으로 오류 감소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971800"/>
            <a:ext cx="324612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971800"/>
            <a:ext cx="324612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3044952"/>
            <a:ext cx="2916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차별화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483864"/>
            <a:ext cx="2843784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일반 거래와 경매 동시 제공
마일리지 예약/해제/정산 포함
사용자/관리자 UX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핵심 기능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93852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회원가입, 로그인, 이메일 인증, 비밀번호 찾기/변경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93852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상품 등록/수정/삭제, 이미지 드래그 업로드, 검색/필터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4320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2608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89864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등록, 입찰, 즉시구매, 입찰 내역, 마감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92608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89864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거래 요청/수락/취소/완료 및 리뷰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88620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385876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실시간 채팅방 목록/팝업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88620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85876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마일리지 충전/사용/출금 요청 및 관리자 처리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6344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8463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481888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신고, 고객센터 문의, 알림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63440"/>
            <a:ext cx="50749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818888"/>
            <a:ext cx="4343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관리자 대시보드와 운영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03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Role &amp;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개인 프로젝트 담당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개인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Hook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9669"/>
                </a:solidFill>
                <a:latin typeface="Malgun Gothic"/>
              </a:rPr>
              <a:t>17 →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Core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Malgun Gothic"/>
              </a:rPr>
              <a:t>8+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691640"/>
            <a:ext cx="237744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1810512"/>
            <a:ext cx="20482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Malgun Gothic"/>
              </a:rPr>
              <a:t>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075688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Malgun Gothic"/>
              </a:rPr>
              <a:t>28p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803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기획, DB 설계, 백엔드 API, 프론트 화면 구현 전담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Spring Security 기반 인증/인가와 관리자 API 접근 제한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상품/경매/거래/채팅/마일리지 도메인 구현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WebSocket/STOMP 채팅과 관리자 운영 화면 개선</a:t>
            </a:r>
          </a:p>
          <a:p>
            <a:pPr marL="190500" indent="-142875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이미지 업로드 서버 검증 및 통합 테스트 작성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Main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비로그인 사용자도 접근 가능한 메인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메인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실시간 검색어 순위
급상승 물품
빈 상태 UI
상품/경매 탐색 흐름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Product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상품 목록/상세/등록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상품 목록 / 상세 / 등록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검색/필터 URL 유지
썸네일 클릭 상세 이동
드래그 이미지 업로드
서버 이미지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Auction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목록/상세/입찰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경매 목록 / 상세 / 입찰 내역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상태별 입찰 가능 여부 제어
최고 입찰자와 최고가 표시
입찰 내역 차트
마감 타이머 상태 갱신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Chat / Trade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채팅과 거래 상태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채팅 목록 / 팝업 / 거래 목록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WebSocket/STOMP 실시간 메시지
채팅방 새 창 팝업
거래 요청/수락/취소/완료
거래 완료 후 리뷰 작성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04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운영 도구형 관리자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95160" cy="406908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3027"/>
            <a:ext cx="6537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관리자 대시보드 / 상품 / 경매 / 출금 화면 캡처 삽입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383280" cy="4069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56231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95144"/>
            <a:ext cx="2980944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서버 관리자 권한 검증
검색/필터/테이블/상태 배지
액션 결과 모달/토스트
위험 액션 확인 모달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05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Frontend / Backend / DB / Infra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1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1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799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993392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1828800"/>
            <a:ext cx="1481328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1984248"/>
            <a:ext cx="12984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Malgun Gothic"/>
              </a:rPr>
              <a:t>Redis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743200"/>
            <a:ext cx="251460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43200"/>
            <a:ext cx="2514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2816352"/>
            <a:ext cx="2185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255264"/>
            <a:ext cx="211226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사용자 화면
관리자 화면
채팅 팝업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743200"/>
            <a:ext cx="333756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2743200"/>
            <a:ext cx="333756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2816352"/>
            <a:ext cx="3008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3255264"/>
            <a:ext cx="293522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Auth / Product / Auction / Trade
Chat / Mileage / Report / Admin
권한 및 상태 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2743200"/>
            <a:ext cx="182880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2743200"/>
            <a:ext cx="18288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1" y="2816352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3255264"/>
            <a:ext cx="142646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회원
상품/경매
거래/정산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743200"/>
            <a:ext cx="182880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0" y="2743200"/>
            <a:ext cx="18288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2816352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3255264"/>
            <a:ext cx="1426464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이메일 인증
캐시성 데이터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257800"/>
            <a:ext cx="104698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257800"/>
            <a:ext cx="104698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5330952"/>
            <a:ext cx="10140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시스템 흐름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" y="5769864"/>
            <a:ext cx="10067544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React 요청 → Spring Boot 인증/인가 및 상태 검증 → MySQL 저장 → Redis 인증/캐시 → WebSocket 채팅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06 API /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Core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전체 API가 아닌 핵심 흐름 중심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10744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868680"/>
                <a:gridCol w="342900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이미지 업로드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/api/products/images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상품/경매 등록용 이미지 업로드 및 서버 검증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경매 입찰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POST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/api/auctions/{auctionId}/bids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경매 상태, 최고가, 마일리지 검증 후 입찰 처리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출금 처리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PATCH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/api/admin/mileage/withdrawals/{id}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F172A"/>
                          </a:solidFill>
                          <a:latin typeface="Malgun Gothic"/>
                        </a:rPr>
                        <a:t>관리자 출금 승인/반려 처리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069080"/>
            <a:ext cx="10744200" cy="96012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069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1422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API 설계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81144"/>
            <a:ext cx="1034186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사용자 액션은 서버에서 권한과 상태를 재검증하고, 관리자 API는 프론트 메뉴 숨김과 별개로 서버에서 권한을 강제했습니다.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06 API /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DB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주요 도메인과 테이블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5806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51460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도메인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주요 테이블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Auth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users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회원 정보, 권한, 상태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products, product_images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상품, 이미지, 찜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Auction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auctions, bids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경매, 입찰 내역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Trade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trades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상품 거래 상태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Chat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chat_rooms, chat_messages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채팅방, 메시지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Mileage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mileage_accounts, ledger, withdrawals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잔액, 원장, 출금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Admin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reports, restrictions, audit_logs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F172A"/>
                          </a:solidFill>
                          <a:latin typeface="Malgun Gothic"/>
                        </a:rPr>
                        <a:t>신고, 제재, 감사 로그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12280" y="1783080"/>
            <a:ext cx="4343400" cy="274320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990088"/>
            <a:ext cx="3886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ERD 캡처 삽입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892040"/>
            <a:ext cx="43434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4892040"/>
            <a:ext cx="43434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4965192"/>
            <a:ext cx="4014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설계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5404104"/>
            <a:ext cx="394106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상품/경매는 분리하고 사용자, 리뷰, 채팅 흐름은 연결했습니다.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8046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핵심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1460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>
                <a:solidFill>
                  <a:srgbClr val="CBD5E1"/>
                </a:solidFill>
                <a:latin typeface="Malgun Gothic"/>
              </a:rPr>
              <a:t>기능 설명보다 왜 필요했고 어떻게 해결했는지를 중심으로 정리했습니다.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37560"/>
            <a:ext cx="12344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Auction Bid / Mileage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입찰 및 마일리지 예약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713232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경매 입찰 및 마일리지 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012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경매 입찰은 현재 최고가, 입찰자 권한, 경매 상태, 마일리지 잔액, 이전 입찰자의 예약 해제를 함께 처리해야 합니다.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상태/마감/최소 입찰가/본인 상품 입찰/현재 최고 입찰자 여부를 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신규 최고 입찰자의 마일리지를 예약하고 이전 최고 입찰자의 예약 마일리지를 해제했습니다.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최고가, 최고 입찰자, 예약 금액의 일관성을 유지했습니다.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713232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권한 기반 메뉴 및 API 접근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012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프론트에서 버튼을 숨기는 것만으로는 보안이 보장되지 않습니다.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사용자 역할에 따라 메뉴와 버튼을 제어하고, 관리자 API는 서버에서 접근을 강제했습니다.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신고/출금/회원 제재 같은 관리자 액션은 서버에서 재검증했습니다.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UI 편의성과 서버 보안을 분리하여 권한 없는 접근을 방지했습니다.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Image Upload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713232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이미지 업로드 서버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012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프론트 검증만으로는 확장자를 위장한 파일 업로드를 막기 어렵습니다.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개수, 용량, 확장자, Content-Type, 파일 시그니처를 서버에서 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JPEG/PNG/GIF/WEBP 시그니처를 확인하고 저장 경로도 검증했습니다.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정상 업로드, 위장 파일 차단, 미지원 확장자 차단 테스트를 작성했습니다.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07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React Data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44200" cy="713232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React 데이터 로딩 흐름 안정화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10012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Hook dependency warning은 데이터 로딩 구조를 점검하는 신호였습니다.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조회 함수는 useCallback으로 안정화하고, 검색/필터는 URL query 기반으로 복원했습니다.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경매 타이머는 auction 객체 전체가 아닌 id/status/endAt만 의존하도록 정리했습니다.</a:t>
            </a:r>
          </a:p>
          <a:p>
            <a:pPr marL="190500" indent="-142875">
              <a:spcAft>
                <a:spcPts val="400"/>
              </a:spcAft>
            </a:pPr>
            <a:r>
              <a:rPr sz="1240" b="0">
                <a:solidFill>
                  <a:srgbClr val="0F172A"/>
                </a:solidFill>
                <a:latin typeface="Malgun Gothic"/>
              </a:rPr>
              <a:t>warning 17개 제거 후 lint/build를 통과했습니다.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08 TROUBLE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입찰 데이터 정합성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744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942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여러 사용자가 입찰할 때 최고 입찰자, 현재 최고가, 마일리지 예약 상태가 불일치할 가능성이 있었습니다.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6207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098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입찰 등록, 최고가 갱신, 마일리지 예약/해제 처리가 서로 다른 도메인에 걸쳐 있었습니다.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입찰 처리 흐름을 하나의 도메인 흐름으로 묶고, 경매 상태와 최고가를 재검증한 뒤 예약/해제를 처리했습니다.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9651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0410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동시 입찰 상황에서도 최고 입찰자, 현재 최고가, 예약 금액이 일관되게 유지되도록 개선했습니다.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08 TROUBLE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관리자 권한 서버 강제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744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942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관리자 메뉴와 버튼을 숨기더라도 URL 직접 접근이나 API 직접 호출로 관리자 기능 접근을 시도할 수 있었습니다.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6207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098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프론트 UI 제어는 사용자 경험 측면의 처리일 뿐 실제 보안 경계는 서버에서 강제되어야 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Spring Security에서 관리자 API 경로를 제한하고, 프론트에서는 권한별 메뉴/버튼 노출을 분리했습니다.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9651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0410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권한 없는 사용자의 직접 접근과 API 호출이 서버에서 차단되도록 개선했습니다.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08 TROUBLE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Troubleshooting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경매 마감 상태 불일치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10744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문제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4942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종료 시간이 지난 직후 서버 상태 갱신 전에는 화면상 입찰 가능 상태처럼 보일 수 있었습니다.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6207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0098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상태는 서버의 OPEN/CLOSED 값과 클라이언트 현재 시간 기준 마감 여부를 함께 고려해야 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10744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254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프론트에서는 endAt 기준으로 버튼과 상태 배지를 즉시 비활성화하고, 서버 입찰 API에서도 상태와 마감 시간을 재검증했습니다.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44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10744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9651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404104"/>
            <a:ext cx="1034186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마감 직후에도 화면 상태와 실제 입찰 가능 여부가 일관되도록 개선했습니다.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09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Test /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구현 후 검증한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83080"/>
          <a:ext cx="1074419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8696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Frontend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npm run lint, npm run build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Backend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이미지 업로드 통합 테스트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Image Upload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정상 PNG 업로드, 위장 파일 차단, SVG 차단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Hook Cleanup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Malgun Gothic"/>
                        </a:rPr>
                        <a:t>기존 17개 warning 제거 후 빌드 성공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434840"/>
            <a:ext cx="10744200" cy="86868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434840"/>
            <a:ext cx="1074420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507992"/>
            <a:ext cx="10415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남은 보완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946904"/>
            <a:ext cx="1034186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전체 백엔드 테스트는 Redis 연결 환경이 필요하며, 결제/출금/경매 동시성 관련 테스트를 추가할 수 있습니다.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10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배운 점, 아쉬운 점,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33756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33375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1"/>
            <a:ext cx="3008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95144"/>
            <a:ext cx="2935224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연결된 기능은 상태 전이 설계가 중요
권한 제어는 서버에서 강제해야 함
Hook warning은 데이터 로딩 구조 점검 신호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33756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83080"/>
            <a:ext cx="333756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856231"/>
            <a:ext cx="3008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아쉬운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295144"/>
            <a:ext cx="2935224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전체 E2E 테스트 부족
Redis 외부 의존성 테스트 환경 분리 필요
배포 환경 모니터링/로그 설계 보완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783080"/>
            <a:ext cx="306324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306324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856231"/>
            <a:ext cx="2734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Malgun Gothic"/>
              </a:rPr>
              <a:t>개선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295144"/>
            <a:ext cx="2660904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0F172A"/>
                </a:solidFill>
                <a:latin typeface="Malgun Gothic"/>
              </a:rPr>
              <a:t>경매 동시성 테스트 강화
테스트 프로파일 분리
관리자 통계 고도화
E2E 테스트 추가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4173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1">
                <a:solidFill>
                  <a:srgbClr val="93C5FD"/>
                </a:solidFill>
                <a:latin typeface="Malgun Gothic"/>
              </a:rPr>
              <a:t>11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Malgun Gothic"/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8046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Malgun Gothic"/>
              </a:rPr>
              <a:t>추가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82880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Malgun Gothic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Malgun Gothic"/>
              </a:rPr>
              <a:t>Jmarket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배포 환경 구성 및 CI/CD 적용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경매 입찰 동시성 테스트 강화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관리자 통계 시각화 고도화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검색 성능 개선 및 인덱싱 전략 보완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알림 기능 실시간화</a:t>
            </a:r>
          </a:p>
          <a:p>
            <a:pPr marL="190500" indent="-142875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주요 사용자 흐름 E2E 테스트 추가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719072"/>
            <a:ext cx="9875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>
                <a:solidFill>
                  <a:srgbClr val="CBD5E1"/>
                </a:solidFill>
                <a:latin typeface="Malgun Gothic"/>
              </a:rPr>
              <a:t>단순 기능 구현을 넘어 사용자 거래 흐름과 관리자 운영 흐름을 연결한 프로젝트입니다.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889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983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 marL="64008" marR="64008" marT="27432" marB="27432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GitHub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Blog / Notion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시연 영상</a:t>
                      </a:r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0F172A"/>
                          </a:solidFill>
                          <a:latin typeface="Malgun Gothic"/>
                        </a:rPr>
                        <a:t>연락처</a:t>
                      </a:r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4008" marR="64008" marT="27432" marB="27432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