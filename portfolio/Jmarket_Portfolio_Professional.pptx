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0332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703320" y="0"/>
            <a:ext cx="848837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3C5FD"/>
                </a:solidFill>
                <a:latin typeface="Malgun Gothic"/>
              </a:rPr>
              <a:t>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algun Gothic"/>
              </a:rPr>
              <a:t>Jmarket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556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Malgun Gothic"/>
              </a:rPr>
              <a:t>중고거래 및 경매 기반 마켓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14300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algun Gothic"/>
              </a:rPr>
              <a:t>사용자 거래 흐름과 관리자 운영 흐름을 연결한 개인 프로젝트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192024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Malgun Gothic"/>
              </a:rPr>
              <a:t>Spring Boot · React · WebSocket · MySQL · Redis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834640"/>
            <a:ext cx="20574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2834640"/>
            <a:ext cx="54864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3017520"/>
            <a:ext cx="1655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364992"/>
            <a:ext cx="1655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Full-stack
개인 프로젝트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834640"/>
            <a:ext cx="20574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12280" y="2834640"/>
            <a:ext cx="54864" cy="1143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13448" y="3017520"/>
            <a:ext cx="1655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3364992"/>
            <a:ext cx="1655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거래 상태
정합성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834640"/>
            <a:ext cx="20574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2834640"/>
            <a:ext cx="54864" cy="1143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8" y="3017520"/>
            <a:ext cx="1655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Domain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3364992"/>
            <a:ext cx="1655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중고거래
경매/정산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59436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Malgun Gothic"/>
              </a:rPr>
              <a:t>이름 / 연락처 / 이메일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Malgun Gothic"/>
              </a:rPr>
              <a:t>01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5303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17320"/>
          <a:ext cx="50749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886200"/>
              </a:tblGrid>
              <a:tr h="3429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이름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연락처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이메일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GitHub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Blog / Notion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172200" y="1417320"/>
            <a:ext cx="5212080" cy="2057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417320"/>
            <a:ext cx="54864" cy="205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600200"/>
            <a:ext cx="4809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한 줄 소개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1947672"/>
            <a:ext cx="48097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Spring Boot와 React를 기반으로 거래, 경매, 채팅, 마일리지, 관리자 운영 기능을 구현했습니다. 기능 구현뿐 아니라 권한, 상태 전이, 데이터 정합성을 함께 고려했습니다.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3977639"/>
          <a:ext cx="507492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600200"/>
                <a:gridCol w="2286000"/>
              </a:tblGrid>
              <a:tr h="3505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기간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기관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/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/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72200" y="3977639"/>
          <a:ext cx="521208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194560"/>
                <a:gridCol w="1737360"/>
              </a:tblGrid>
              <a:tr h="3505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취득일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자격증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기관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/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/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Malgun Gothic"/>
              </a:rPr>
              <a:t>01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5303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17320"/>
          <a:ext cx="107899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749039"/>
                <a:gridCol w="5623560"/>
              </a:tblGrid>
              <a:tr h="48768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기술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사용 이유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11827"/>
                          </a:solidFill>
                          <a:latin typeface="Malgun Gothic"/>
                        </a:rPr>
                        <a:t>Backend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11827"/>
                          </a:solidFill>
                          <a:latin typeface="Malgun Gothic"/>
                        </a:rPr>
                        <a:t>Java 21, Spring Boot, Spring Security, JPA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11827"/>
                          </a:solidFill>
                          <a:latin typeface="Malgun Gothic"/>
                        </a:rPr>
                        <a:t>인증/인가, 트랜잭션, 도메인 API 구현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11827"/>
                          </a:solidFill>
                          <a:latin typeface="Malgun Gothic"/>
                        </a:rPr>
                        <a:t>Frontend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11827"/>
                          </a:solidFill>
                          <a:latin typeface="Malgun Gothic"/>
                        </a:rPr>
                        <a:t>React, Vite, JavaScript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11827"/>
                          </a:solidFill>
                          <a:latin typeface="Malgun Gothic"/>
                        </a:rPr>
                        <a:t>사용자/관리자 화면과 상태 기반 UI 구현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11827"/>
                          </a:solidFill>
                          <a:latin typeface="Malgun Gothic"/>
                        </a:rPr>
                        <a:t>Database / Cache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11827"/>
                          </a:solidFill>
                          <a:latin typeface="Malgun Gothic"/>
                        </a:rPr>
                        <a:t>MySQL, Redis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11827"/>
                          </a:solidFill>
                          <a:latin typeface="Malgun Gothic"/>
                        </a:rPr>
                        <a:t>핵심 데이터 저장, 이메일 인증/캐시성 데이터 처리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11827"/>
                          </a:solidFill>
                          <a:latin typeface="Malgun Gothic"/>
                        </a:rPr>
                        <a:t>Realtime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11827"/>
                          </a:solidFill>
                          <a:latin typeface="Malgun Gothic"/>
                        </a:rPr>
                        <a:t>WebSocket, STOMP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11827"/>
                          </a:solidFill>
                          <a:latin typeface="Malgun Gothic"/>
                        </a:rPr>
                        <a:t>거래/경매 채팅 메시지 실시간 송수신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11827"/>
                          </a:solidFill>
                          <a:latin typeface="Malgun Gothic"/>
                        </a:rPr>
                        <a:t>Test / Tool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11827"/>
                          </a:solidFill>
                          <a:latin typeface="Malgun Gothic"/>
                        </a:rPr>
                        <a:t>JUnit, MockMvc, Gradle, npm, Git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11827"/>
                          </a:solidFill>
                          <a:latin typeface="Malgun Gothic"/>
                        </a:rPr>
                        <a:t>기능 검증, 빌드, 버전 관리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4800600"/>
            <a:ext cx="10789920" cy="731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4800600"/>
            <a:ext cx="54864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4983480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학습/활동 요약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5330952"/>
            <a:ext cx="10387584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Spring Security 인증/인가, 경매 정산 흐름, React 데이터 로딩 구조, 관리자 운영 UX를 중심으로 학습하고 프로젝트에 적용했습니다.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Malgun Gothic"/>
              </a:rPr>
              <a:t>02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Project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5303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63040"/>
          <a:ext cx="107899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508760"/>
                <a:gridCol w="777240"/>
                <a:gridCol w="3337560"/>
                <a:gridCol w="3794760"/>
              </a:tblGrid>
              <a:tr h="59436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프로젝트명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기간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인원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기술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11827"/>
                          </a:solidFill>
                          <a:latin typeface="Malgun Gothic"/>
                        </a:rPr>
                        <a:t>Jmarket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11827"/>
                          </a:solidFill>
                          <a:latin typeface="Malgun Gothic"/>
                        </a:rPr>
                        <a:t>2026.04 ~ 2026.05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11827"/>
                          </a:solidFill>
                          <a:latin typeface="Malgun Gothic"/>
                        </a:rPr>
                        <a:t>개인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11827"/>
                          </a:solidFill>
                          <a:latin typeface="Malgun Gothic"/>
                        </a:rPr>
                        <a:t>Spring Boot, React, MySQL, Redis, WebSocket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11827"/>
                          </a:solidFill>
                          <a:latin typeface="Malgun Gothic"/>
                        </a:rPr>
                        <a:t>중고거래와 경매를 함께 제공하는 마켓 플랫폼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3063240"/>
            <a:ext cx="10789920" cy="214884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991356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algun Gothic"/>
              </a:rPr>
              <a:t>프로젝트 대표 화면 캡처 삽입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3C5FD"/>
                </a:solidFill>
                <a:latin typeface="Malgun Gothic"/>
              </a:rPr>
              <a:t>03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algun Gothic"/>
              </a:rPr>
              <a:t>Jmarket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BD5E1"/>
                </a:solidFill>
                <a:latin typeface="Malgun Gothic"/>
              </a:rPr>
              <a:t>문제 해결 중심으로 프로젝트의 구조와 핵심 로직을 정리했습니다.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12801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Malgun Gothic"/>
              </a:rPr>
              <a:t>03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5303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078992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54480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핵심 문장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01952"/>
            <a:ext cx="10387584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중고거래 과정의 상품 탐색, 거래 요청, 경매 입찰, 채팅, 마일리지 정산, 관리자 운영 문제를 해결하기 위해 통합 마켓 플랫폼을 개발했습니다.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29000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54864" cy="2194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788920"/>
            <a:ext cx="3026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해결하려는 문제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136392"/>
            <a:ext cx="302666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거래 요청부터 완료까지 상태 관리
경매 입찰과 마일리지 예약 정합성
신고/출금/회원 제재 운영 분리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606040"/>
            <a:ext cx="3429000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606040"/>
            <a:ext cx="54864" cy="2194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7" y="2788920"/>
            <a:ext cx="3026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기대 효과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7" y="3136392"/>
            <a:ext cx="302666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사용자는 한 흐름에서 거래 처리
관리자는 운영 데이터를 빠르게 확인
권한/상태별 액션으로 오류 감소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2606040"/>
            <a:ext cx="3291840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2606040"/>
            <a:ext cx="54864" cy="2194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2788920"/>
            <a:ext cx="28895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차별화 포인트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136392"/>
            <a:ext cx="288950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일반 거래와 경매 동시 제공
마일리지 예약/해제/정산 포함
사용자/관리자 UX 분리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Malgun Gothic"/>
              </a:rPr>
              <a:t>03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Main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5303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111827"/>
                </a:solidFill>
                <a:latin typeface="Malgun Gothic"/>
              </a:rPr>
              <a:t>1. 회원가입, 로그인, 이메일 인증, 비밀번호 찾기/변경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11827"/>
                </a:solidFill>
                <a:latin typeface="Malgun Gothic"/>
              </a:rPr>
              <a:t>2. 상품 등록/수정/삭제, 이미지 드래그 업로드, 검색/필터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11827"/>
                </a:solidFill>
                <a:latin typeface="Malgun Gothic"/>
              </a:rPr>
              <a:t>3. 경매 등록, 입찰, 즉시구매, 입찰 내역, 마감 처리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11827"/>
                </a:solidFill>
                <a:latin typeface="Malgun Gothic"/>
              </a:rPr>
              <a:t>4. 거래 요청/수락/취소/완료 및 리뷰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11827"/>
                </a:solidFill>
                <a:latin typeface="Malgun Gothic"/>
              </a:rPr>
              <a:t>5. 실시간 채팅방 목록/팝업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11827"/>
                </a:solidFill>
                <a:latin typeface="Malgun Gothic"/>
              </a:rPr>
              <a:t>6. 마일리지 충전/사용/출금 요청 및 관리자 처리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11827"/>
                </a:solidFill>
                <a:latin typeface="Malgun Gothic"/>
              </a:rPr>
              <a:t>7. 신고, 고객센터 문의, 알림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11827"/>
                </a:solidFill>
                <a:latin typeface="Malgun Gothic"/>
              </a:rPr>
              <a:t>8. 관리자 대시보드와 운영 관리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Malgun Gothic"/>
              </a:rPr>
              <a:t>03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Role &amp; Responsibility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5303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237744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90472"/>
            <a:ext cx="20482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64748B"/>
                </a:solidFill>
                <a:latin typeface="Malgun Gothic"/>
              </a:rPr>
              <a:t>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746504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Malgun Gothic"/>
              </a:rPr>
              <a:t>개인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325880"/>
            <a:ext cx="237744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1490472"/>
            <a:ext cx="20482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64748B"/>
                </a:solidFill>
                <a:latin typeface="Malgun Gothic"/>
              </a:rPr>
              <a:t>Slides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1746504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Malgun Gothic"/>
              </a:rPr>
              <a:t>28p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325880"/>
            <a:ext cx="237744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3912" y="1490472"/>
            <a:ext cx="20482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64748B"/>
                </a:solidFill>
                <a:latin typeface="Malgun Gothic"/>
              </a:rPr>
              <a:t>Hook Warning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1746504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59669"/>
                </a:solidFill>
                <a:latin typeface="Malgun Gothic"/>
              </a:rPr>
              <a:t>17 →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1325880"/>
            <a:ext cx="237744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05672" y="1490472"/>
            <a:ext cx="20482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64748B"/>
                </a:solidFill>
                <a:latin typeface="Malgun Gothic"/>
              </a:rPr>
              <a:t>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5672" y="1746504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Malgun Gothic"/>
              </a:rPr>
              <a:t>8+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06040"/>
            <a:ext cx="10241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250" b="0">
                <a:solidFill>
                  <a:srgbClr val="111827"/>
                </a:solidFill>
                <a:latin typeface="Malgun Gothic"/>
              </a:rPr>
              <a:t>기획, DB 설계, 백엔드 API, 프론트 화면 구현 전담</a:t>
            </a:r>
          </a:p>
          <a:p>
            <a:pPr marL="228600" indent="-171450">
              <a:spcAft>
                <a:spcPts val="500"/>
              </a:spcAft>
            </a:pPr>
            <a:r>
              <a:rPr sz="1250" b="0">
                <a:solidFill>
                  <a:srgbClr val="111827"/>
                </a:solidFill>
                <a:latin typeface="Malgun Gothic"/>
              </a:rPr>
              <a:t>Spring Security 기반 인증/인가와 관리자 API 접근 제한</a:t>
            </a:r>
          </a:p>
          <a:p>
            <a:pPr marL="228600" indent="-171450">
              <a:spcAft>
                <a:spcPts val="500"/>
              </a:spcAft>
            </a:pPr>
            <a:r>
              <a:rPr sz="1250" b="0">
                <a:solidFill>
                  <a:srgbClr val="111827"/>
                </a:solidFill>
                <a:latin typeface="Malgun Gothic"/>
              </a:rPr>
              <a:t>상품/경매/거래/채팅/마일리지 도메인 구현</a:t>
            </a:r>
          </a:p>
          <a:p>
            <a:pPr marL="228600" indent="-171450">
              <a:spcAft>
                <a:spcPts val="500"/>
              </a:spcAft>
            </a:pPr>
            <a:r>
              <a:rPr sz="1250" b="0">
                <a:solidFill>
                  <a:srgbClr val="111827"/>
                </a:solidFill>
                <a:latin typeface="Malgun Gothic"/>
              </a:rPr>
              <a:t>WebSocket/STOMP 채팅과 관리자 운영 화면 개선</a:t>
            </a:r>
          </a:p>
          <a:p>
            <a:pPr marL="228600" indent="-171450">
              <a:spcAft>
                <a:spcPts val="500"/>
              </a:spcAft>
            </a:pPr>
            <a:r>
              <a:rPr sz="1250" b="0">
                <a:solidFill>
                  <a:srgbClr val="111827"/>
                </a:solidFill>
                <a:latin typeface="Malgun Gothic"/>
              </a:rPr>
              <a:t>이미지 업로드 서버 검증 및 통합 테스트 작성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Malgun Gothic"/>
              </a:rPr>
              <a:t>04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Main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5303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7132320" cy="43434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51276"/>
            <a:ext cx="6766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algun Gothic"/>
              </a:rPr>
              <a:t>메인 화면 캡처 삽입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25880"/>
            <a:ext cx="3246120" cy="4343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38160" y="1325880"/>
            <a:ext cx="54864" cy="434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508760"/>
            <a:ext cx="2843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핵심 포인트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1856231"/>
            <a:ext cx="284378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실시간 검색어 순위
급상승 물품
빈 상태 UI
상품/경매 탐색 흐름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Malgun Gothic"/>
              </a:rPr>
              <a:t>04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Product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5303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7132320" cy="43434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51276"/>
            <a:ext cx="6766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algun Gothic"/>
              </a:rPr>
              <a:t>상품 목록 / 상세 / 등록 화면 캡처 삽입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25880"/>
            <a:ext cx="3246120" cy="4343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38160" y="1325880"/>
            <a:ext cx="54864" cy="434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508760"/>
            <a:ext cx="2843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핵심 포인트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1856231"/>
            <a:ext cx="284378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검색/필터 URL 유지
썸네일 상세 이동
드래그 이미지 업로드
서버 이미지 검증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Malgun Gothic"/>
              </a:rPr>
              <a:t>04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Auction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5303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7132320" cy="43434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51276"/>
            <a:ext cx="6766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algun Gothic"/>
              </a:rPr>
              <a:t>경매 목록 / 상세 / 입찰 화면 캡처 삽입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25880"/>
            <a:ext cx="3246120" cy="4343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38160" y="1325880"/>
            <a:ext cx="54864" cy="434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508760"/>
            <a:ext cx="2843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핵심 포인트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1856231"/>
            <a:ext cx="284378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상태별 입찰 제어
최고 입찰자/최고가 표시
입찰 차트
마감 타이머 갱신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Malgun Gothic"/>
              </a:rPr>
              <a:t>04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Chat / Trade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5303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7132320" cy="43434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51276"/>
            <a:ext cx="6766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algun Gothic"/>
              </a:rPr>
              <a:t>채팅 목록 / 팝업 / 거래 목록 캡처 삽입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25880"/>
            <a:ext cx="3246120" cy="4343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38160" y="1325880"/>
            <a:ext cx="54864" cy="434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508760"/>
            <a:ext cx="2843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핵심 포인트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1856231"/>
            <a:ext cx="284378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STOMP 실시간 메시지
채팅방 새 창 팝업
거래 요청/수락/취소/완료
완료 후 리뷰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Malgun Gothic"/>
              </a:rPr>
              <a:t>04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Admin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5303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7132320" cy="43434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51276"/>
            <a:ext cx="6766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algun Gothic"/>
              </a:rPr>
              <a:t>관리자 대시보드 / 상품 / 경매 / 출금 캡처 삽입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25880"/>
            <a:ext cx="3246120" cy="4343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38160" y="1325880"/>
            <a:ext cx="54864" cy="434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508760"/>
            <a:ext cx="2843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핵심 포인트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1856231"/>
            <a:ext cx="284378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서버 관리자 권한 검증
상태 배지와 빠른 액션
모달/토스트 통일
위험 액션 확인 모달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Malgun Gothic"/>
              </a:rPr>
              <a:t>05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5303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1645920" cy="594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36776"/>
            <a:ext cx="1426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Malgun Gothic"/>
              </a:rPr>
              <a:t>React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7168" y="164592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463040"/>
            <a:ext cx="1645920" cy="594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1636776"/>
            <a:ext cx="1426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Malgun Gothic"/>
              </a:rPr>
              <a:t>REST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164592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59" y="1463040"/>
            <a:ext cx="1645920" cy="594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1636776"/>
            <a:ext cx="1426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Malgun Gothic"/>
              </a:rPr>
              <a:t>Spring Boot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64592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19" y="1463040"/>
            <a:ext cx="1645920" cy="594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4847" y="1636776"/>
            <a:ext cx="1426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Malgun Gothic"/>
              </a:rPr>
              <a:t>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64592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1463040"/>
            <a:ext cx="1645920" cy="594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50807" y="1636776"/>
            <a:ext cx="1426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Malgun Gothic"/>
              </a:rPr>
              <a:t>Redis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423160"/>
            <a:ext cx="2743200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2423160"/>
            <a:ext cx="54864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2606040"/>
            <a:ext cx="2340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2953512"/>
            <a:ext cx="234086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사용자 화면
관리자 화면
채팅 팝업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2423160"/>
            <a:ext cx="3383280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0" y="2423160"/>
            <a:ext cx="54864" cy="2194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58768" y="2606040"/>
            <a:ext cx="2980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8768" y="2953512"/>
            <a:ext cx="29809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Auth / Product / Auction / Trade
Chat / Mileage / Report / Admin
권한 및 상태 검증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69480" y="2423160"/>
            <a:ext cx="1828800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69480" y="2423160"/>
            <a:ext cx="54864" cy="2194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0648" y="2606040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MySQL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0648" y="2953512"/>
            <a:ext cx="142646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회원
상품/경매
거래/정산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72600" y="2423160"/>
            <a:ext cx="1828800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72600" y="2423160"/>
            <a:ext cx="54864" cy="2194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73768" y="2606040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Redis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3768" y="2953512"/>
            <a:ext cx="142646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이메일 인증
캐시성 데이터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983480"/>
            <a:ext cx="10515600" cy="731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" y="4983480"/>
            <a:ext cx="54864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" y="5166360"/>
            <a:ext cx="10113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시스템 흐름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" y="5513832"/>
            <a:ext cx="10113264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React 요청 → Spring Boot 인증/인가 및 상태 검증 → MySQL 저장 → Redis 인증/캐시 → WebSocket 채팅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Malgun Gothic"/>
              </a:rPr>
              <a:t>06 API / 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Core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5303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17320"/>
          <a:ext cx="107899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868680"/>
                <a:gridCol w="3429000"/>
                <a:gridCol w="5166360"/>
              </a:tblGrid>
              <a:tr h="457200"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Malgun Gothic"/>
                        </a:rPr>
                        <a:t>기능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Malgun Gothic"/>
                        </a:rPr>
                        <a:t>Method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Malgun Gothic"/>
                        </a:rPr>
                        <a:t>API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11827"/>
                          </a:solidFill>
                          <a:latin typeface="Malgun Gothic"/>
                        </a:rPr>
                        <a:t>이미지 업로드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11827"/>
                          </a:solidFill>
                          <a:latin typeface="Malgun Gothic"/>
                        </a:rPr>
                        <a:t>POST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11827"/>
                          </a:solidFill>
                          <a:latin typeface="Malgun Gothic"/>
                        </a:rPr>
                        <a:t>/api/products/images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11827"/>
                          </a:solidFill>
                          <a:latin typeface="Malgun Gothic"/>
                        </a:rPr>
                        <a:t>상품/경매 등록용 이미지 업로드 및 서버 검증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11827"/>
                          </a:solidFill>
                          <a:latin typeface="Malgun Gothic"/>
                        </a:rPr>
                        <a:t>경매 입찰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11827"/>
                          </a:solidFill>
                          <a:latin typeface="Malgun Gothic"/>
                        </a:rPr>
                        <a:t>POST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11827"/>
                          </a:solidFill>
                          <a:latin typeface="Malgun Gothic"/>
                        </a:rPr>
                        <a:t>/api/auctions/{auctionId}/bids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11827"/>
                          </a:solidFill>
                          <a:latin typeface="Malgun Gothic"/>
                        </a:rPr>
                        <a:t>경매 상태, 최고가, 마일리지 검증 후 입찰 처리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11827"/>
                          </a:solidFill>
                          <a:latin typeface="Malgun Gothic"/>
                        </a:rPr>
                        <a:t>출금 처리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11827"/>
                          </a:solidFill>
                          <a:latin typeface="Malgun Gothic"/>
                        </a:rPr>
                        <a:t>PATCH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11827"/>
                          </a:solidFill>
                          <a:latin typeface="Malgun Gothic"/>
                        </a:rPr>
                        <a:t>/api/admin/mileage/withdrawals/{id}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11827"/>
                          </a:solidFill>
                          <a:latin typeface="Malgun Gothic"/>
                        </a:rPr>
                        <a:t>관리자 출금 승인/반려 처리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3794760"/>
            <a:ext cx="10789920" cy="1097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3794760"/>
            <a:ext cx="54864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3977640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API 설계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4325112"/>
            <a:ext cx="10387584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사용자 액션은 서버에서 권한과 상태를 재검증하고, 관리자 API는 프론트 메뉴 숨김과 별개로 서버에서 권한을 강제했습니다.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Malgun Gothic"/>
              </a:rPr>
              <a:t>06 API / 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DB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5303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25880"/>
          <a:ext cx="58064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560320"/>
                <a:gridCol w="2194560"/>
              </a:tblGrid>
              <a:tr h="537210"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Malgun Gothic"/>
                        </a:rPr>
                        <a:t>도메인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Malgun Gothic"/>
                        </a:rPr>
                        <a:t>주요 테이블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11827"/>
                          </a:solidFill>
                          <a:latin typeface="Malgun Gothic"/>
                        </a:rPr>
                        <a:t>Auth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11827"/>
                          </a:solidFill>
                          <a:latin typeface="Malgun Gothic"/>
                        </a:rPr>
                        <a:t>users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11827"/>
                          </a:solidFill>
                          <a:latin typeface="Malgun Gothic"/>
                        </a:rPr>
                        <a:t>회원 정보, 권한, 상태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11827"/>
                          </a:solidFill>
                          <a:latin typeface="Malgun Gothic"/>
                        </a:rPr>
                        <a:t>Product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11827"/>
                          </a:solidFill>
                          <a:latin typeface="Malgun Gothic"/>
                        </a:rPr>
                        <a:t>products, product_images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11827"/>
                          </a:solidFill>
                          <a:latin typeface="Malgun Gothic"/>
                        </a:rPr>
                        <a:t>상품, 이미지, 찜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11827"/>
                          </a:solidFill>
                          <a:latin typeface="Malgun Gothic"/>
                        </a:rPr>
                        <a:t>Auction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11827"/>
                          </a:solidFill>
                          <a:latin typeface="Malgun Gothic"/>
                        </a:rPr>
                        <a:t>auctions, bids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11827"/>
                          </a:solidFill>
                          <a:latin typeface="Malgun Gothic"/>
                        </a:rPr>
                        <a:t>경매, 입찰 내역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11827"/>
                          </a:solidFill>
                          <a:latin typeface="Malgun Gothic"/>
                        </a:rPr>
                        <a:t>Trade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11827"/>
                          </a:solidFill>
                          <a:latin typeface="Malgun Gothic"/>
                        </a:rPr>
                        <a:t>trades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11827"/>
                          </a:solidFill>
                          <a:latin typeface="Malgun Gothic"/>
                        </a:rPr>
                        <a:t>상품 거래 상태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11827"/>
                          </a:solidFill>
                          <a:latin typeface="Malgun Gothic"/>
                        </a:rPr>
                        <a:t>Chat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11827"/>
                          </a:solidFill>
                          <a:latin typeface="Malgun Gothic"/>
                        </a:rPr>
                        <a:t>chat_rooms, chat_messages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11827"/>
                          </a:solidFill>
                          <a:latin typeface="Malgun Gothic"/>
                        </a:rPr>
                        <a:t>채팅방, 메시지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11827"/>
                          </a:solidFill>
                          <a:latin typeface="Malgun Gothic"/>
                        </a:rPr>
                        <a:t>Mileage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11827"/>
                          </a:solidFill>
                          <a:latin typeface="Malgun Gothic"/>
                        </a:rPr>
                        <a:t>mileage_accounts, ledger, withdrawals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11827"/>
                          </a:solidFill>
                          <a:latin typeface="Malgun Gothic"/>
                        </a:rPr>
                        <a:t>잔액, 원장, 출금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11827"/>
                          </a:solidFill>
                          <a:latin typeface="Malgun Gothic"/>
                        </a:rPr>
                        <a:t>Admin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11827"/>
                          </a:solidFill>
                          <a:latin typeface="Malgun Gothic"/>
                        </a:rPr>
                        <a:t>reports, restrictions, audit_logs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11827"/>
                          </a:solidFill>
                          <a:latin typeface="Malgun Gothic"/>
                        </a:rPr>
                        <a:t>신고, 제재, 감사 로그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12280" y="1325880"/>
            <a:ext cx="4389120" cy="29718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2665476"/>
            <a:ext cx="4023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algun Gothic"/>
              </a:rPr>
              <a:t>ERD 캡처 삽입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4617720"/>
            <a:ext cx="4389120" cy="1005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12280" y="4617720"/>
            <a:ext cx="54864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13448" y="4800600"/>
            <a:ext cx="39867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설계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3448" y="5148072"/>
            <a:ext cx="39867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상품/경매는 분리하고 사용자, 리뷰, 채팅 흐름은 연결했습니다.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3C5FD"/>
                </a:solidFill>
                <a:latin typeface="Malgun Gothic"/>
              </a:rPr>
              <a:t>07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algun Gothic"/>
              </a:rPr>
              <a:t>핵심 로직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BD5E1"/>
                </a:solidFill>
                <a:latin typeface="Malgun Gothic"/>
              </a:rPr>
              <a:t>기능 설명보다 왜 필요했고 어떻게 해결했는지를 중심으로 정리했습니다.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12801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Malgun Gothic"/>
              </a:rPr>
              <a:t>07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Auction Bid / Mileage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5303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0789920" cy="777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54480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경매 입찰 및 마일리지 예약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111827"/>
                </a:solidFill>
                <a:latin typeface="Malgun Gothic"/>
              </a:rPr>
              <a:t>경매 입찰은 현재 최고가, 입찰자 권한, 경매 상태, 마일리지 잔액, 이전 입찰자의 예약 해제를 함께 처리해야 합니다.</a:t>
            </a:r>
          </a:p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111827"/>
                </a:solidFill>
                <a:latin typeface="Malgun Gothic"/>
              </a:rPr>
              <a:t>상태/마감/최소 입찰가/본인 상품 입찰/현재 최고 입찰자 여부를 검증했습니다.</a:t>
            </a:r>
          </a:p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111827"/>
                </a:solidFill>
                <a:latin typeface="Malgun Gothic"/>
              </a:rPr>
              <a:t>신규 최고 입찰자의 마일리지를 예약하고 이전 최고 입찰자의 예약 마일리지를 해제했습니다.</a:t>
            </a:r>
          </a:p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111827"/>
                </a:solidFill>
                <a:latin typeface="Malgun Gothic"/>
              </a:rPr>
              <a:t>최고가, 최고 입찰자, 예약 금액의 일관성을 유지했습니다.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Malgun Gothic"/>
              </a:rPr>
              <a:t>07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Access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5303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0789920" cy="777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54480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권한 기반 메뉴 및 API 접근 제어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111827"/>
                </a:solidFill>
                <a:latin typeface="Malgun Gothic"/>
              </a:rPr>
              <a:t>프론트에서 버튼을 숨기는 것만으로는 보안이 보장되지 않습니다.</a:t>
            </a:r>
          </a:p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111827"/>
                </a:solidFill>
                <a:latin typeface="Malgun Gothic"/>
              </a:rPr>
              <a:t>사용자 역할에 따라 메뉴와 버튼을 제어하고, 관리자 API는 서버에서 접근을 강제했습니다.</a:t>
            </a:r>
          </a:p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111827"/>
                </a:solidFill>
                <a:latin typeface="Malgun Gothic"/>
              </a:rPr>
              <a:t>신고/출금/회원 제재 같은 관리자 액션은 서버에서 재검증했습니다.</a:t>
            </a:r>
          </a:p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111827"/>
                </a:solidFill>
                <a:latin typeface="Malgun Gothic"/>
              </a:rPr>
              <a:t>UI 편의성과 서버 보안을 분리하여 권한 없는 접근을 방지했습니다.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Malgun Gothic"/>
              </a:rPr>
              <a:t>07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Image Upload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5303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0789920" cy="777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54480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이미지 업로드 서버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111827"/>
                </a:solidFill>
                <a:latin typeface="Malgun Gothic"/>
              </a:rPr>
              <a:t>프론트 검증만으로는 확장자를 위장한 파일 업로드를 막기 어렵습니다.</a:t>
            </a:r>
          </a:p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111827"/>
                </a:solidFill>
                <a:latin typeface="Malgun Gothic"/>
              </a:rPr>
              <a:t>개수, 용량, 확장자, Content-Type, 파일 시그니처를 서버에서 검증했습니다.</a:t>
            </a:r>
          </a:p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111827"/>
                </a:solidFill>
                <a:latin typeface="Malgun Gothic"/>
              </a:rPr>
              <a:t>JPEG/PNG/GIF/WEBP 시그니처를 확인하고 저장 경로도 검증했습니다.</a:t>
            </a:r>
          </a:p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111827"/>
                </a:solidFill>
                <a:latin typeface="Malgun Gothic"/>
              </a:rPr>
              <a:t>정상 업로드, 위장 파일 차단, 미지원 확장자 차단 테스트를 작성했습니다.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Malgun Gothic"/>
              </a:rPr>
              <a:t>07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React Data Loading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5303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0789920" cy="777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54480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React 데이터 로딩 흐름 안정화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111827"/>
                </a:solidFill>
                <a:latin typeface="Malgun Gothic"/>
              </a:rPr>
              <a:t>Hook dependency warning은 데이터 로딩 구조를 점검하는 신호였습니다.</a:t>
            </a:r>
          </a:p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111827"/>
                </a:solidFill>
                <a:latin typeface="Malgun Gothic"/>
              </a:rPr>
              <a:t>조회 함수는 useCallback으로 안정화하고, 검색/필터는 URL query 기반으로 복원했습니다.</a:t>
            </a:r>
          </a:p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111827"/>
                </a:solidFill>
                <a:latin typeface="Malgun Gothic"/>
              </a:rPr>
              <a:t>경매 타이머는 auction 객체 전체가 아닌 id/status/endAt만 의존하도록 정리했습니다.</a:t>
            </a:r>
          </a:p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111827"/>
                </a:solidFill>
                <a:latin typeface="Malgun Gothic"/>
              </a:rPr>
              <a:t>warning 17개 제거 후 lint/build를 통과했습니다.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Malgun Gothic"/>
              </a:rPr>
              <a:t>08 Trouble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Troubleshooting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5303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1060704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508760"/>
            <a:ext cx="10204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56231"/>
            <a:ext cx="1020470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여러 사용자가 입찰할 때 최고 입찰자, 현재 최고가, 마일리지 예약 상태가 불일치할 가능성이 있었습니다.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04872"/>
            <a:ext cx="1060704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404872"/>
            <a:ext cx="54864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587752"/>
            <a:ext cx="10204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원인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935224"/>
            <a:ext cx="1020470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입찰 등록, 최고가 갱신, 마일리지 예약/해제 처리가 서로 다른 도메인에 걸쳐 있었습니다.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483863"/>
            <a:ext cx="1060704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483863"/>
            <a:ext cx="54864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666744"/>
            <a:ext cx="10204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해결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014215"/>
            <a:ext cx="1020470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입찰 처리 흐름을 하나의 도메인 흐름으로 묶고, 경매 상태와 최고가를 재검증한 뒤 예약/해제를 처리했습니다.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562855"/>
            <a:ext cx="1060704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562855"/>
            <a:ext cx="54864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745736"/>
            <a:ext cx="10204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결과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5093207"/>
            <a:ext cx="1020470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동시 입찰 상황에서도 최고 입찰자, 현재 최고가, 예약 금액이 일관되게 유지되도록 개선했습니다.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Malgun Gothic"/>
              </a:rPr>
              <a:t>08 Trouble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Troubleshooting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5303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1060704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508760"/>
            <a:ext cx="10204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56231"/>
            <a:ext cx="1020470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관리자 메뉴와 버튼을 숨기더라도 URL 직접 접근이나 API 직접 호출로 관리자 기능 접근을 시도할 수 있었습니다.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04872"/>
            <a:ext cx="1060704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404872"/>
            <a:ext cx="54864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587752"/>
            <a:ext cx="10204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원인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935224"/>
            <a:ext cx="1020470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프론트 UI 제어는 사용자 경험 측면의 처리일 뿐 실제 보안 경계는 서버에서 강제되어야 했습니다.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483863"/>
            <a:ext cx="1060704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483863"/>
            <a:ext cx="54864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666744"/>
            <a:ext cx="10204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해결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014215"/>
            <a:ext cx="1020470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Spring Security에서 관리자 API 경로를 제한하고, 프론트에서는 권한별 메뉴/버튼 노출을 분리했습니다.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562855"/>
            <a:ext cx="1060704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562855"/>
            <a:ext cx="54864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745736"/>
            <a:ext cx="10204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결과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5093207"/>
            <a:ext cx="1020470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권한 없는 사용자의 직접 접근과 API 호출이 서버에서 차단되도록 개선했습니다.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Malgun Gothic"/>
              </a:rPr>
              <a:t>08 Trouble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Troubleshooting 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5303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1060704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508760"/>
            <a:ext cx="10204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56231"/>
            <a:ext cx="1020470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경매 종료 시간이 지난 직후 서버 상태 갱신 전에는 화면상 입찰 가능 상태처럼 보일 수 있었습니다.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04872"/>
            <a:ext cx="1060704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404872"/>
            <a:ext cx="54864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587752"/>
            <a:ext cx="10204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원인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935224"/>
            <a:ext cx="1020470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경매 상태는 서버의 OPEN/CLOSED 값과 클라이언트 현재 시간 기준 마감 여부를 함께 고려해야 했습니다.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483863"/>
            <a:ext cx="1060704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483863"/>
            <a:ext cx="54864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666744"/>
            <a:ext cx="10204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해결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014215"/>
            <a:ext cx="1020470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프론트에서는 endAt 기준으로 버튼과 상태 배지를 즉시 비활성화하고, 서버 입찰 API에서도 상태와 마감 시간을 재검증했습니다.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562855"/>
            <a:ext cx="1060704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562855"/>
            <a:ext cx="54864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745736"/>
            <a:ext cx="10204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결과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5093207"/>
            <a:ext cx="1020470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마감 직후에도 화면 상태와 실제 입찰 가능 여부가 일관되도록 개선했습니다.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Malgun Gothic"/>
              </a:rPr>
              <a:t>09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Test /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5303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17320"/>
          <a:ext cx="107899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8869680"/>
              </a:tblGrid>
              <a:tr h="42062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검증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827"/>
                          </a:solidFill>
                          <a:latin typeface="Malgun Gothic"/>
                        </a:rPr>
                        <a:t>Frontend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827"/>
                          </a:solidFill>
                          <a:latin typeface="Malgun Gothic"/>
                        </a:rPr>
                        <a:t>npm run lint, npm run build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827"/>
                          </a:solidFill>
                          <a:latin typeface="Malgun Gothic"/>
                        </a:rPr>
                        <a:t>Backend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827"/>
                          </a:solidFill>
                          <a:latin typeface="Malgun Gothic"/>
                        </a:rPr>
                        <a:t>이미지 업로드 통합 테스트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827"/>
                          </a:solidFill>
                          <a:latin typeface="Malgun Gothic"/>
                        </a:rPr>
                        <a:t>Image Upload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827"/>
                          </a:solidFill>
                          <a:latin typeface="Malgun Gothic"/>
                        </a:rPr>
                        <a:t>정상 PNG 업로드, 위장 파일 차단, SVG 차단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827"/>
                          </a:solidFill>
                          <a:latin typeface="Malgun Gothic"/>
                        </a:rPr>
                        <a:t>Hook Cleanup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827"/>
                          </a:solidFill>
                          <a:latin typeface="Malgun Gothic"/>
                        </a:rPr>
                        <a:t>기존 17개 warning 제거 후 빌드 성공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4023360"/>
            <a:ext cx="1078992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4023360"/>
            <a:ext cx="54864" cy="960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4206240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남은 보완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4553712"/>
            <a:ext cx="10387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전체 백엔드 테스트는 Redis 연결 환경이 필요하며, 결제/출금/경매 동시성 관련 테스트를 추가할 수 있습니다.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Malgun Gothic"/>
              </a:rPr>
              <a:t>10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Retrospective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5303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383280" cy="4114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54864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08760"/>
            <a:ext cx="2980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배운 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56231"/>
            <a:ext cx="2980944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연결된 기능은 상태 전이 설계가 중요
권한 제어는 서버에서 강제해야 함
Hook warning은 데이터 로딩 구조 점검 신호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383280" cy="4114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54864" cy="4114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508760"/>
            <a:ext cx="2980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아쉬운 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856231"/>
            <a:ext cx="2980944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전체 E2E 테스트 부족
Redis 외부 의존성 테스트 환경 분리 필요
배포 환경 모니터링/로그 설계 보완 필요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325880"/>
            <a:ext cx="3108960" cy="4114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325880"/>
            <a:ext cx="54864" cy="4114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508760"/>
            <a:ext cx="2706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algun Gothic"/>
              </a:rPr>
              <a:t>개선 방향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856231"/>
            <a:ext cx="2706624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64748B"/>
                </a:solidFill>
                <a:latin typeface="Malgun Gothic"/>
              </a:rPr>
              <a:t>경매 동시성 테스트 강화
테스트 프로파일 분리
관리자 통계 고도화
E2E 테스트 추가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Malgun Gothic"/>
              </a:rPr>
              <a:t>11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Future Improvements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5303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500" b="0">
                <a:solidFill>
                  <a:srgbClr val="111827"/>
                </a:solidFill>
                <a:latin typeface="Malgun Gothic"/>
              </a:rPr>
              <a:t>배포 환경 구성 및 CI/CD 적용</a:t>
            </a:r>
          </a:p>
          <a:p>
            <a:pPr marL="228600" indent="-171450">
              <a:spcAft>
                <a:spcPts val="500"/>
              </a:spcAft>
            </a:pPr>
            <a:r>
              <a:rPr sz="1500" b="0">
                <a:solidFill>
                  <a:srgbClr val="111827"/>
                </a:solidFill>
                <a:latin typeface="Malgun Gothic"/>
              </a:rPr>
              <a:t>경매 입찰 동시성 테스트 강화</a:t>
            </a:r>
          </a:p>
          <a:p>
            <a:pPr marL="228600" indent="-171450">
              <a:spcAft>
                <a:spcPts val="500"/>
              </a:spcAft>
            </a:pPr>
            <a:r>
              <a:rPr sz="1500" b="0">
                <a:solidFill>
                  <a:srgbClr val="111827"/>
                </a:solidFill>
                <a:latin typeface="Malgun Gothic"/>
              </a:rPr>
              <a:t>관리자 통계 시각화 고도화</a:t>
            </a:r>
          </a:p>
          <a:p>
            <a:pPr marL="228600" indent="-171450">
              <a:spcAft>
                <a:spcPts val="500"/>
              </a:spcAft>
            </a:pPr>
            <a:r>
              <a:rPr sz="1500" b="0">
                <a:solidFill>
                  <a:srgbClr val="111827"/>
                </a:solidFill>
                <a:latin typeface="Malgun Gothic"/>
              </a:rPr>
              <a:t>검색 성능 개선 및 인덱싱 전략 보완</a:t>
            </a:r>
          </a:p>
          <a:p>
            <a:pPr marL="228600" indent="-171450">
              <a:spcAft>
                <a:spcPts val="500"/>
              </a:spcAft>
            </a:pPr>
            <a:r>
              <a:rPr sz="1500" b="0">
                <a:solidFill>
                  <a:srgbClr val="111827"/>
                </a:solidFill>
                <a:latin typeface="Malgun Gothic"/>
              </a:rPr>
              <a:t>알림 기능 실시간화</a:t>
            </a:r>
          </a:p>
          <a:p>
            <a:pPr marL="228600" indent="-171450">
              <a:spcAft>
                <a:spcPts val="500"/>
              </a:spcAft>
            </a:pPr>
            <a:r>
              <a:rPr sz="1500" b="0">
                <a:solidFill>
                  <a:srgbClr val="111827"/>
                </a:solidFill>
                <a:latin typeface="Malgun Gothic"/>
              </a:rPr>
              <a:t>주요 사용자 흐름 E2E 테스트 추가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9144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916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BD5E1"/>
                </a:solidFill>
                <a:latin typeface="Malgun Gothic"/>
              </a:rPr>
              <a:t>단순 기능 구현을 넘어 사용자 거래 흐름과 관리자 운영 흐름을 연결한 프로젝트입니다.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74320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937760"/>
              </a:tblGrid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marL="54864" marR="54864" marT="36576" marB="36576"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827"/>
                          </a:solidFill>
                          <a:latin typeface="Malgun Gothic"/>
                        </a:rPr>
                        <a:t>GitHub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827"/>
                          </a:solidFill>
                          <a:latin typeface="Malgun Gothic"/>
                        </a:rPr>
                        <a:t>Blog / Notion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827"/>
                          </a:solidFill>
                          <a:latin typeface="Malgun Gothic"/>
                        </a:rPr>
                        <a:t>시연 영상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827"/>
                          </a:solidFill>
                          <a:latin typeface="Malgun Gothic"/>
                        </a:rPr>
                        <a:t>연락처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